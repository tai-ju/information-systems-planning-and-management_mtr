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CC3332-081A-4FC7-BB3E-04DDB5270FBC}" v="2" dt="2025-10-27T07:03:03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8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玳如 劉" userId="57117983bbab1dfe" providerId="LiveId" clId="{88C8B942-2A23-4B58-AE9A-40DBB63FF690}"/>
    <pc:docChg chg="custSel delSld modSld">
      <pc:chgData name="玳如 劉" userId="57117983bbab1dfe" providerId="LiveId" clId="{88C8B942-2A23-4B58-AE9A-40DBB63FF690}" dt="2025-10-27T07:56:00.824" v="33" actId="478"/>
      <pc:docMkLst>
        <pc:docMk/>
      </pc:docMkLst>
      <pc:sldChg chg="delSp modSp mod">
        <pc:chgData name="玳如 劉" userId="57117983bbab1dfe" providerId="LiveId" clId="{88C8B942-2A23-4B58-AE9A-40DBB63FF690}" dt="2025-10-27T07:56:00.824" v="33" actId="478"/>
        <pc:sldMkLst>
          <pc:docMk/>
          <pc:sldMk cId="0" sldId="256"/>
        </pc:sldMkLst>
        <pc:spChg chg="mod">
          <ac:chgData name="玳如 劉" userId="57117983bbab1dfe" providerId="LiveId" clId="{88C8B942-2A23-4B58-AE9A-40DBB63FF690}" dt="2025-10-27T07:03:29.554" v="22" actId="1076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玳如 劉" userId="57117983bbab1dfe" providerId="LiveId" clId="{88C8B942-2A23-4B58-AE9A-40DBB63FF690}" dt="2025-10-27T07:56:00.824" v="33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玳如 劉" userId="57117983bbab1dfe" providerId="LiveId" clId="{88C8B942-2A23-4B58-AE9A-40DBB63FF690}" dt="2025-10-27T07:03:56.604" v="23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玳如 劉" userId="57117983bbab1dfe" providerId="LiveId" clId="{88C8B942-2A23-4B58-AE9A-40DBB63FF690}" dt="2025-10-27T07:04:03.596" v="25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玳如 劉" userId="57117983bbab1dfe" providerId="LiveId" clId="{88C8B942-2A23-4B58-AE9A-40DBB63FF690}" dt="2025-10-27T05:52:58.807" v="10" actId="20577"/>
        <pc:sldMkLst>
          <pc:docMk/>
          <pc:sldMk cId="0" sldId="259"/>
        </pc:sldMkLst>
        <pc:spChg chg="mod">
          <ac:chgData name="玳如 劉" userId="57117983bbab1dfe" providerId="LiveId" clId="{88C8B942-2A23-4B58-AE9A-40DBB63FF690}" dt="2025-10-27T05:52:58.807" v="10" actId="20577"/>
          <ac:spMkLst>
            <pc:docMk/>
            <pc:sldMk cId="0" sldId="259"/>
            <ac:spMk id="8" creationId="{00000000-0000-0000-0000-000000000000}"/>
          </ac:spMkLst>
        </pc:spChg>
      </pc:sldChg>
      <pc:sldChg chg="delSp mod">
        <pc:chgData name="玳如 劉" userId="57117983bbab1dfe" providerId="LiveId" clId="{88C8B942-2A23-4B58-AE9A-40DBB63FF690}" dt="2025-10-27T05:56:00.088" v="13" actId="478"/>
        <pc:sldMkLst>
          <pc:docMk/>
          <pc:sldMk cId="0" sldId="260"/>
        </pc:sldMkLst>
        <pc:spChg chg="del">
          <ac:chgData name="玳如 劉" userId="57117983bbab1dfe" providerId="LiveId" clId="{88C8B942-2A23-4B58-AE9A-40DBB63FF690}" dt="2025-10-27T05:55:53.166" v="11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玳如 劉" userId="57117983bbab1dfe" providerId="LiveId" clId="{88C8B942-2A23-4B58-AE9A-40DBB63FF690}" dt="2025-10-27T05:55:58.225" v="12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玳如 劉" userId="57117983bbab1dfe" providerId="LiveId" clId="{88C8B942-2A23-4B58-AE9A-40DBB63FF690}" dt="2025-10-27T05:56:00.088" v="13" actId="478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玳如 劉" userId="57117983bbab1dfe" providerId="LiveId" clId="{88C8B942-2A23-4B58-AE9A-40DBB63FF690}" dt="2025-10-27T05:56:50.170" v="14" actId="20577"/>
        <pc:sldMkLst>
          <pc:docMk/>
          <pc:sldMk cId="0" sldId="261"/>
        </pc:sldMkLst>
        <pc:spChg chg="mod">
          <ac:chgData name="玳如 劉" userId="57117983bbab1dfe" providerId="LiveId" clId="{88C8B942-2A23-4B58-AE9A-40DBB63FF690}" dt="2025-10-27T05:56:50.170" v="14" actId="20577"/>
          <ac:spMkLst>
            <pc:docMk/>
            <pc:sldMk cId="0" sldId="261"/>
            <ac:spMk id="7" creationId="{00000000-0000-0000-0000-000000000000}"/>
          </ac:spMkLst>
        </pc:spChg>
      </pc:sldChg>
      <pc:sldChg chg="delSp modSp mod">
        <pc:chgData name="玳如 劉" userId="57117983bbab1dfe" providerId="LiveId" clId="{88C8B942-2A23-4B58-AE9A-40DBB63FF690}" dt="2025-10-27T05:57:39.542" v="15" actId="20577"/>
        <pc:sldMkLst>
          <pc:docMk/>
          <pc:sldMk cId="0" sldId="262"/>
        </pc:sldMkLst>
        <pc:spChg chg="mod">
          <ac:chgData name="玳如 劉" userId="57117983bbab1dfe" providerId="LiveId" clId="{88C8B942-2A23-4B58-AE9A-40DBB63FF690}" dt="2025-10-27T05:57:39.542" v="15" actId="20577"/>
          <ac:spMkLst>
            <pc:docMk/>
            <pc:sldMk cId="0" sldId="262"/>
            <ac:spMk id="4" creationId="{00000000-0000-0000-0000-000000000000}"/>
          </ac:spMkLst>
        </pc:spChg>
        <pc:spChg chg="del">
          <ac:chgData name="玳如 劉" userId="57117983bbab1dfe" providerId="LiveId" clId="{88C8B942-2A23-4B58-AE9A-40DBB63FF690}" dt="2025-10-27T05:41:02.811" v="1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玳如 劉" userId="57117983bbab1dfe" providerId="LiveId" clId="{88C8B942-2A23-4B58-AE9A-40DBB63FF690}" dt="2025-10-27T05:41:02.811" v="1" actId="478"/>
          <ac:spMkLst>
            <pc:docMk/>
            <pc:sldMk cId="0" sldId="262"/>
            <ac:spMk id="18" creationId="{00000000-0000-0000-0000-000000000000}"/>
          </ac:spMkLst>
        </pc:spChg>
      </pc:sldChg>
      <pc:sldChg chg="modSp mod">
        <pc:chgData name="玳如 劉" userId="57117983bbab1dfe" providerId="LiveId" clId="{88C8B942-2A23-4B58-AE9A-40DBB63FF690}" dt="2025-10-27T07:13:34.401" v="32" actId="20577"/>
        <pc:sldMkLst>
          <pc:docMk/>
          <pc:sldMk cId="0" sldId="263"/>
        </pc:sldMkLst>
        <pc:spChg chg="mod">
          <ac:chgData name="玳如 劉" userId="57117983bbab1dfe" providerId="LiveId" clId="{88C8B942-2A23-4B58-AE9A-40DBB63FF690}" dt="2025-10-27T07:13:34.401" v="32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玳如 劉" userId="57117983bbab1dfe" providerId="LiveId" clId="{88C8B942-2A23-4B58-AE9A-40DBB63FF690}" dt="2025-10-27T05:41:43.429" v="9" actId="20577"/>
        <pc:sldMkLst>
          <pc:docMk/>
          <pc:sldMk cId="0" sldId="264"/>
        </pc:sldMkLst>
        <pc:spChg chg="mod">
          <ac:chgData name="玳如 劉" userId="57117983bbab1dfe" providerId="LiveId" clId="{88C8B942-2A23-4B58-AE9A-40DBB63FF690}" dt="2025-10-27T05:41:43.429" v="9" actId="20577"/>
          <ac:spMkLst>
            <pc:docMk/>
            <pc:sldMk cId="0" sldId="264"/>
            <ac:spMk id="3" creationId="{00000000-0000-0000-0000-000000000000}"/>
          </ac:spMkLst>
        </pc:spChg>
      </pc:sldChg>
      <pc:sldChg chg="del">
        <pc:chgData name="玳如 劉" userId="57117983bbab1dfe" providerId="LiveId" clId="{88C8B942-2A23-4B58-AE9A-40DBB63FF690}" dt="2025-10-26T04:24:23.347" v="0" actId="2696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200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7983" y="979289"/>
            <a:ext cx="5048032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spcAft>
                <a:spcPts val="1800"/>
              </a:spcAft>
              <a:buNone/>
            </a:pPr>
            <a:r>
              <a:rPr lang="en-US" sz="4200" dirty="0" err="1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醫院ADC</a:t>
            </a:r>
            <a:r>
              <a:rPr lang="en-US" altLang="zh-TW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(</a:t>
            </a:r>
            <a:r>
              <a:rPr lang="zh-TW" alt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自動調配藥櫃</a:t>
            </a:r>
            <a:r>
              <a:rPr lang="en-US" altLang="zh-TW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)</a:t>
            </a:r>
            <a:r>
              <a:rPr lang="en-US" sz="4200" dirty="0" err="1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系統</a:t>
            </a:r>
            <a:endParaRPr lang="en-US" sz="4200" dirty="0"/>
          </a:p>
          <a:p>
            <a:pPr marL="0" indent="0" algn="ctr">
              <a:lnSpc>
                <a:spcPts val="5040"/>
              </a:lnSpc>
              <a:spcAft>
                <a:spcPts val="18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流程分析與優化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347847" y="3798317"/>
            <a:ext cx="244830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數據期間：2023/3 - 2025/10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9fb2f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33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443998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專案概述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158180"/>
            <a:ext cx="8394192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數據背景</a:t>
            </a:r>
            <a:endParaRPr lang="en-US" sz="1650" dirty="0"/>
          </a:p>
        </p:txBody>
      </p:sp>
      <p:pic>
        <p:nvPicPr>
          <p:cNvPr id="5" name="Image 1" descr="/tmp/rasterized-gradient-2668cf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82936"/>
            <a:ext cx="1885950" cy="13714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1513" y="1811536"/>
            <a:ext cx="145732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29,803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671513" y="2436316"/>
            <a:ext cx="14573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總作業記錄</a:t>
            </a:r>
            <a:endParaRPr lang="en-US" sz="1050" dirty="0"/>
          </a:p>
        </p:txBody>
      </p:sp>
      <p:pic>
        <p:nvPicPr>
          <p:cNvPr id="8" name="Image 2" descr="/tmp/rasterized-gradient-e843f7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1750" y="1582936"/>
            <a:ext cx="1885950" cy="137145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86063" y="1811536"/>
            <a:ext cx="145732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2.5年</a:t>
            </a:r>
            <a:endParaRPr lang="en-US" sz="2700" dirty="0"/>
          </a:p>
        </p:txBody>
      </p:sp>
      <p:sp>
        <p:nvSpPr>
          <p:cNvPr id="10" name="Text 5"/>
          <p:cNvSpPr/>
          <p:nvPr/>
        </p:nvSpPr>
        <p:spPr>
          <a:xfrm>
            <a:off x="2786063" y="2436316"/>
            <a:ext cx="14573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數據時間範圍</a:t>
            </a:r>
            <a:endParaRPr lang="en-US" sz="1050" dirty="0"/>
          </a:p>
        </p:txBody>
      </p:sp>
      <p:pic>
        <p:nvPicPr>
          <p:cNvPr id="11" name="Image 3" descr="/tmp/rasterized-gradient-55db5d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1582936"/>
            <a:ext cx="1885950" cy="137145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00613" y="1811536"/>
            <a:ext cx="145732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700" dirty="0"/>
          </a:p>
        </p:txBody>
      </p:sp>
      <p:sp>
        <p:nvSpPr>
          <p:cNvPr id="13" name="Text 7"/>
          <p:cNvSpPr/>
          <p:nvPr/>
        </p:nvSpPr>
        <p:spPr>
          <a:xfrm>
            <a:off x="4900613" y="2436316"/>
            <a:ext cx="14573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涵蓋病房</a:t>
            </a:r>
            <a:endParaRPr lang="en-US" sz="1050" dirty="0"/>
          </a:p>
        </p:txBody>
      </p:sp>
      <p:pic>
        <p:nvPicPr>
          <p:cNvPr id="14" name="Image 4" descr="/tmp/rasterized-gradient-7f1063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0850" y="1582936"/>
            <a:ext cx="1885950" cy="137145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015163" y="1811536"/>
            <a:ext cx="145732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700" dirty="0"/>
          </a:p>
        </p:txBody>
      </p:sp>
      <p:sp>
        <p:nvSpPr>
          <p:cNvPr id="16" name="Text 9"/>
          <p:cNvSpPr/>
          <p:nvPr/>
        </p:nvSpPr>
        <p:spPr>
          <a:xfrm>
            <a:off x="7015163" y="2436316"/>
            <a:ext cx="14573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作業類型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457200" y="3182987"/>
            <a:ext cx="8394192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5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分析範圍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457200" y="3607743"/>
            <a:ext cx="8229600" cy="107052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病房：3W、PI、MIB、9C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核心流程：領藥、調劑、補藥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時間：2023年3月至2025年10月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8783985" y="4663529"/>
            <a:ext cx="757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78236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33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443998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BPM三階段架構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158180"/>
            <a:ext cx="2590800" cy="2661047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47700" y="1348680"/>
            <a:ext cx="2253996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階段1: BPM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47700" y="1773436"/>
            <a:ext cx="22539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業務流程管理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7700" y="2123926"/>
            <a:ext cx="2209800" cy="107052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流程現況盤點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問題識別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改善目標設定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7700" y="3308747"/>
            <a:ext cx="225399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產出：AS-IS報告、問題清單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76600" y="1158180"/>
            <a:ext cx="2590800" cy="2661047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467100" y="1348680"/>
            <a:ext cx="2253996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階段2: Modeling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3467100" y="1773436"/>
            <a:ext cx="22539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流程建模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467100" y="2123926"/>
            <a:ext cx="2209800" cy="107052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BPMN流程圖繪製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流程變體分析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角色與責任定義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467100" y="3308747"/>
            <a:ext cx="225399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產出：BPMN圖、泳道圖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96000" y="1158180"/>
            <a:ext cx="2590800" cy="2661047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286500" y="1348680"/>
            <a:ext cx="2253996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階段3: Mining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286500" y="1773436"/>
            <a:ext cx="22539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流程挖掘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286500" y="2123926"/>
            <a:ext cx="2209800" cy="107052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流程自動發現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一致性檢查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效能分析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286500" y="3308747"/>
            <a:ext cx="225399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產出：流程地圖、瓶頸報告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783985" y="4663529"/>
            <a:ext cx="757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9ccef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33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443998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階段1: 業務流程管理 (BPM)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158180"/>
            <a:ext cx="8394192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目標：了解現有流程、定義問題與改善目標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1621036"/>
            <a:ext cx="4000500" cy="1737271"/>
          </a:xfrm>
          <a:prstGeom prst="roundRect">
            <a:avLst>
              <a:gd name="adj" fmla="val 2193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6250" y="1621036"/>
            <a:ext cx="0" cy="173727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647700" y="1773436"/>
            <a:ext cx="37307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流程現況盤點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7700" y="2135386"/>
            <a:ext cx="3657600" cy="107052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識別核心流程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分析病房作業差異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86300" y="1621036"/>
            <a:ext cx="4000500" cy="1737271"/>
          </a:xfrm>
          <a:prstGeom prst="roundRect">
            <a:avLst>
              <a:gd name="adj" fmla="val 219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705350" y="1621036"/>
            <a:ext cx="0" cy="173727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4876800" y="1773436"/>
            <a:ext cx="37307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問題識別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76800" y="2135386"/>
            <a:ext cx="3657600" cy="107052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庫存管理：存量不符97次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流程效率：補藥頻率分析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人力配置：負荷平衡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3548807"/>
            <a:ext cx="8229600" cy="872430"/>
          </a:xfrm>
          <a:prstGeom prst="roundRect">
            <a:avLst>
              <a:gd name="adj" fmla="val 4367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76250" y="3548807"/>
            <a:ext cx="0" cy="87243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647700" y="3701207"/>
            <a:ext cx="80444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改善目標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7700" y="4025057"/>
            <a:ext cx="804443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減少存量不符、優化補藥時機、平衡作業負荷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783985" y="4663529"/>
            <a:ext cx="757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67e32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33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5188077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階段2: 流程建模 (Process Modeling)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120080"/>
            <a:ext cx="8394192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目標：視覺化呈現流程，建立標準化模型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1544836"/>
            <a:ext cx="45339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核心產出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2040136"/>
            <a:ext cx="4445050" cy="107052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BPMN 2.0流程圖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國際標準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泳道圖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角色互動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流程變體分析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正常vs異常</a:t>
            </a:r>
            <a:endParaRPr lang="en-US" sz="1350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4B7D06D0-1434-659B-7753-EF66BA9B6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133" y="1081980"/>
            <a:ext cx="4602073" cy="392210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801843" y="4748808"/>
            <a:ext cx="757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d1db0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33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482860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階段3: 流程挖掘 (Process Mining)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158180"/>
            <a:ext cx="8394192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目標：從數據發現流程真實執行狀況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1582936"/>
            <a:ext cx="2590800" cy="1813471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47700" y="1773436"/>
            <a:ext cx="22539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流程發現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7700" y="2135386"/>
            <a:ext cx="2209800" cy="107052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發現未記錄的變體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識別常見路徑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276600" y="1582936"/>
            <a:ext cx="2590800" cy="1813471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467100" y="1773436"/>
            <a:ext cx="22539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一致性檢查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467100" y="2135386"/>
            <a:ext cx="2209800" cy="107052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標準vs實際比對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偏離案例識別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根因分析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096000" y="1582936"/>
            <a:ext cx="2590800" cy="1813471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86500" y="1773436"/>
            <a:ext cx="22539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效能分析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286500" y="2135386"/>
            <a:ext cx="2209800" cy="107052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各步驟耗時分析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瓶頸點識別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資源使用率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783985" y="4663529"/>
            <a:ext cx="757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f7807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33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443998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工具方案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158180"/>
            <a:ext cx="8394192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650" b="1" dirty="0" err="1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開源工具組合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1582936"/>
            <a:ext cx="2590800" cy="1352401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47700" y="1773436"/>
            <a:ext cx="22539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PM4Py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7700" y="2135386"/>
            <a:ext cx="225399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Mining核心引擎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7700" y="2455366"/>
            <a:ext cx="22539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流程發現、一致性檢查、效能分析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76600" y="1582936"/>
            <a:ext cx="2590800" cy="1352401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467100" y="1773436"/>
            <a:ext cx="22539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+ Plotly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467100" y="2135386"/>
            <a:ext cx="225399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數據分析與視覺化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67100" y="2455366"/>
            <a:ext cx="22539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統計分析、趨勢圖、儀表板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96000" y="1582936"/>
            <a:ext cx="2590800" cy="1352401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286500" y="1773436"/>
            <a:ext cx="22539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286500" y="2135386"/>
            <a:ext cx="225399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互動式報告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86500" y="2455366"/>
            <a:ext cx="22539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整合程式碼、圖表、說明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783985" y="4663529"/>
            <a:ext cx="757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64039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33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443998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zh-TW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初步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分析發現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222921"/>
            <a:ext cx="4000500" cy="1175147"/>
          </a:xfrm>
          <a:prstGeom prst="roundRect">
            <a:avLst>
              <a:gd name="adj" fmla="val 324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76250" y="1222921"/>
            <a:ext cx="0" cy="117514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647700" y="1375321"/>
            <a:ext cx="3730752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補藥頻率偏高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7700" y="1674316"/>
            <a:ext cx="373075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補藥6,035次 vs 領藥15,418次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7700" y="1956197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比例25.7%，建議優化時機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2664768"/>
            <a:ext cx="4000500" cy="1175147"/>
          </a:xfrm>
          <a:prstGeom prst="roundRect">
            <a:avLst>
              <a:gd name="adj" fmla="val 3242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76250" y="2664768"/>
            <a:ext cx="0" cy="117514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647700" y="2817168"/>
            <a:ext cx="3730752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調劑效率良好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7700" y="3116163"/>
            <a:ext cx="373075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平均耗時14秒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7700" y="3398044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50%在14秒內完成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686300" y="1158180"/>
            <a:ext cx="4000500" cy="1304776"/>
          </a:xfrm>
          <a:prstGeom prst="roundRect">
            <a:avLst>
              <a:gd name="adj" fmla="val 2920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705350" y="1158180"/>
            <a:ext cx="0" cy="1304776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4876800" y="1310580"/>
            <a:ext cx="3730752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病房差異明顯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876800" y="1609576"/>
            <a:ext cx="3657600" cy="7009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3W/PI：領藥為主（一般病房）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MIB/9C：調劑為主（特殊照護）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686300" y="2729657"/>
            <a:ext cx="4000500" cy="1175147"/>
          </a:xfrm>
          <a:prstGeom prst="roundRect">
            <a:avLst>
              <a:gd name="adj" fmla="val 3242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705350" y="2729657"/>
            <a:ext cx="0" cy="1175147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7"/>
          <p:cNvSpPr/>
          <p:nvPr/>
        </p:nvSpPr>
        <p:spPr>
          <a:xfrm>
            <a:off x="4876800" y="2882057"/>
            <a:ext cx="3730752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存量不符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876800" y="3181052"/>
            <a:ext cx="373075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97次（0.33%）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76800" y="3462933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品質指標穩定但需持續監控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783985" y="4663529"/>
            <a:ext cx="757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8dfab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33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443998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預期</a:t>
            </a:r>
            <a:r>
              <a:rPr lang="zh-TW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產出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158180"/>
            <a:ext cx="8394192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完整分析成果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1582936"/>
            <a:ext cx="26426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Modeling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2097286"/>
            <a:ext cx="2590800" cy="144006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BPMN 2.0 標準流程圖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泳道圖（跨角色互動）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流程規範文件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可編輯的原始檔案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276600" y="1582936"/>
            <a:ext cx="26426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Mining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76600" y="2097286"/>
            <a:ext cx="2590800" cy="144006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互動式流程地圖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效能分析儀表板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瓶頸識別報告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改善建議清單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96000" y="1582936"/>
            <a:ext cx="26426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進階分析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96000" y="2097286"/>
            <a:ext cx="2590800" cy="144006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預測性補藥模型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最佳庫存建議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異常預警系統</a:t>
            </a:r>
            <a:endParaRPr lang="en-US" sz="1350" dirty="0"/>
          </a:p>
          <a:p>
            <a:pPr marL="114300" indent="-114300" algn="l">
              <a:lnSpc>
                <a:spcPts val="216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持續優化方案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783985" y="4663529"/>
            <a:ext cx="757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308</Words>
  <Application>Microsoft Office PowerPoint</Application>
  <PresentationFormat>如螢幕大小 (16:9)</PresentationFormat>
  <Paragraphs>124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Arial</vt:lpstr>
      <vt:lpstr>Impact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ADC系統BPM流程分析</dc:title>
  <dc:subject>Process Modeling &amp; Mining</dc:subject>
  <dc:creator>ADC Process Analysis Team</dc:creator>
  <cp:lastModifiedBy>玳如 劉</cp:lastModifiedBy>
  <cp:revision>2</cp:revision>
  <dcterms:created xsi:type="dcterms:W3CDTF">2025-10-24T07:59:14Z</dcterms:created>
  <dcterms:modified xsi:type="dcterms:W3CDTF">2025-10-27T07:56:11Z</dcterms:modified>
</cp:coreProperties>
</file>